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3"/>
    <p:restoredTop sz="94595"/>
  </p:normalViewPr>
  <p:slideViewPr>
    <p:cSldViewPr snapToGrid="0">
      <p:cViewPr varScale="1">
        <p:scale>
          <a:sx n="136" d="100"/>
          <a:sy n="136" d="100"/>
        </p:scale>
        <p:origin x="248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B251-3554-03F5-CBF9-30AE03A20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AB068-E1E1-E3D4-70A8-0779D866A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96EC1-5780-4D06-D1C7-C1D5D954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51EE1-81FD-D100-EF30-734D095B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4FDAE-3CE4-B5DF-0858-7BE188D6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3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6FCB-A6EB-BE01-8F4F-583CF6E5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7657-3FE4-1948-025D-0646B225E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8ECC-6EC8-A4E2-9B0E-C46C97C0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01E8-548C-E94C-8F76-3621C95D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8FC0A-A3B8-56BD-CE6C-4787199E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6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5DC3-501B-CD4A-22BB-CFCFF0BB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46061-88B4-4E2B-CC65-6CB9BE628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42F7-75C5-B75B-3E98-B111A0EB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BD48-6C9E-75DA-E7C0-23BB3878D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7BDC1-EF7B-9C69-8BEA-5718F7AF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CC95-6665-4FA2-8718-D33A5C61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AEA-E7C5-E472-B94F-78409F080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31843-CFB9-DDCE-F5F5-133745D62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81231-D4B8-1DF3-6977-BD6258FB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993D0-09EC-46C9-EA5A-2696E4F7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DA3E9-D6F5-43A7-972F-CE347044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8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B2A2-6B15-275B-05DE-C105EDE4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30DF1-D891-429B-CE7E-83FD2BF7D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4635F-0744-6D5F-6721-B61FDC160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E63C3-C17C-4659-7337-890E1656C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6C042-1CC9-71EB-3FA8-32AA76A7E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B6354-E7DC-1496-D688-510352D9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148FA-4114-EB30-2868-4AD2B64B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BDB5D-1A58-DFD3-A92C-2BD6FC41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3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4DC9-1F44-EB7D-27D4-E0B45A6F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7654A9-16CE-7242-BB7A-B413142A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04A78-1998-4819-DDE8-ADB6F220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0CA70-5A65-3E68-AA32-32866656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3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371DB-B0C4-BE86-D85C-2B7CBA38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53DD0-40E9-277F-BB71-0F9E32C7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FA4FB-7529-931C-6E9D-163E296A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5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DD08-6F5E-B5C6-717D-DD31D97E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4A71-7A9E-2DC9-5D68-5D1B33043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58B8D-1E3F-263E-5E1F-DE791553F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02621-4C7B-722B-0245-A71B5C1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5FB15-C52D-AA9E-60AC-D31FC5C4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C6126-1EF3-1833-32A3-0626E84C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7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7B32-CD14-1005-AB64-D9A42C57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4BA70-F5E4-D12F-67E7-8EEBE346C23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916B5-FB56-C499-6CA2-8F4100E26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9A914-9331-8305-594C-4E85DCB0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C511E-3F85-CC14-3817-FADC30BF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BABBC-B841-3982-8EE0-F40F63E6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8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36EA-5CAF-668C-1F74-C62D7CE8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1C6FA-B8A4-FDE0-3961-3E3AAA266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F1E15-A2E1-DC9B-95F7-25810CE9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6AFA4-1FF8-369A-3721-48B0F8FB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19552-AB1B-4ABF-9291-7AF23A88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5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F2654-25BB-58C8-F4CC-63AB386FF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31D88-B8DE-612C-8E9B-E9B2BBCCB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F9621-E552-5AB2-DA02-8DDC4F17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E150-8043-47F9-76F8-E6CD5CC4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7CB2-66B9-A06B-4AE6-F63D4BA1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9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65D2F-0F7F-B73F-44D3-DCA91500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AEA42-C42B-1E3E-5909-8BF34CC37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9121-8FE4-2FDF-35A0-75EB79F61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C3E3F-1E9D-A441-928C-C241C6F9DB8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DF0FC-9405-8D7B-DD79-DACD62009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CF22-03BF-E317-A856-A7A9F0E41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13FCA-D9E7-B443-B430-EC257AC8C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0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5C7436E6-3C6E-4D5C-262E-2F92FECC36EE}"/>
              </a:ext>
            </a:extLst>
          </p:cNvPr>
          <p:cNvSpPr txBox="1"/>
          <p:nvPr/>
        </p:nvSpPr>
        <p:spPr>
          <a:xfrm>
            <a:off x="502920" y="411480"/>
            <a:ext cx="559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99B3910-ED9D-5F1A-829B-B66F71DE5D8A}"/>
              </a:ext>
            </a:extLst>
          </p:cNvPr>
          <p:cNvSpPr txBox="1"/>
          <p:nvPr/>
        </p:nvSpPr>
        <p:spPr>
          <a:xfrm>
            <a:off x="502920" y="1051560"/>
            <a:ext cx="1118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video AI know the right moment to help?</a:t>
            </a:r>
            <a:endParaRPr lang="en-US" sz="36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0CAA4875-6257-4F60-AE86-A24CA5A2E593}"/>
              </a:ext>
            </a:extLst>
          </p:cNvPr>
          <p:cNvSpPr txBox="1"/>
          <p:nvPr/>
        </p:nvSpPr>
        <p:spPr>
          <a:xfrm>
            <a:off x="502920" y="2331720"/>
            <a:ext cx="109600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 case study inspired by a CVPR 2025 keynote on streaming Video-LLMs, built from a real problem to a working local prototype.</a:t>
            </a:r>
            <a:endParaRPr lang="en-US" sz="15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D8D62DB6-0EA3-D560-39C5-9C6C50B26AEE}"/>
              </a:ext>
            </a:extLst>
          </p:cNvPr>
          <p:cNvSpPr/>
          <p:nvPr/>
        </p:nvSpPr>
        <p:spPr>
          <a:xfrm>
            <a:off x="1476756" y="37947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1DE4FFD9-EA67-BBC8-7145-5F149BB24A38}"/>
              </a:ext>
            </a:extLst>
          </p:cNvPr>
          <p:cNvSpPr/>
          <p:nvPr/>
        </p:nvSpPr>
        <p:spPr>
          <a:xfrm>
            <a:off x="2528316" y="40507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icons/video_orange.png">
            <a:extLst>
              <a:ext uri="{FF2B5EF4-FFF2-40B4-BE49-F238E27FC236}">
                <a16:creationId xmlns:a16="http://schemas.microsoft.com/office/drawing/2014/main" id="{D8D4D098-182B-810C-0D71-201FCEE0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4215384"/>
            <a:ext cx="402336" cy="402336"/>
          </a:xfrm>
          <a:prstGeom prst="rect">
            <a:avLst/>
          </a:prstGeom>
        </p:spPr>
      </p:pic>
      <p:sp>
        <p:nvSpPr>
          <p:cNvPr id="32" name="Text 5">
            <a:extLst>
              <a:ext uri="{FF2B5EF4-FFF2-40B4-BE49-F238E27FC236}">
                <a16:creationId xmlns:a16="http://schemas.microsoft.com/office/drawing/2014/main" id="{5AD2AB39-199D-949A-F001-E3693EB82C7A}"/>
              </a:ext>
            </a:extLst>
          </p:cNvPr>
          <p:cNvSpPr txBox="1"/>
          <p:nvPr/>
        </p:nvSpPr>
        <p:spPr>
          <a:xfrm>
            <a:off x="1476756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04465B33-3B7E-51FC-3CA5-732A0D6699C3}"/>
              </a:ext>
            </a:extLst>
          </p:cNvPr>
          <p:cNvSpPr txBox="1"/>
          <p:nvPr/>
        </p:nvSpPr>
        <p:spPr>
          <a:xfrm>
            <a:off x="1659636" y="5184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guidance arrives too late</a:t>
            </a:r>
            <a:endParaRPr lang="en-US" sz="14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BF53340F-7736-1AF7-DA09-7D2D29731718}"/>
              </a:ext>
            </a:extLst>
          </p:cNvPr>
          <p:cNvSpPr txBox="1"/>
          <p:nvPr/>
        </p:nvSpPr>
        <p:spPr>
          <a:xfrm>
            <a:off x="4311396" y="4434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6739EDB6-733A-5AE5-20F0-836EA3B20030}"/>
              </a:ext>
            </a:extLst>
          </p:cNvPr>
          <p:cNvSpPr/>
          <p:nvPr/>
        </p:nvSpPr>
        <p:spPr>
          <a:xfrm>
            <a:off x="4677156" y="37947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3C2E3AB-8462-DC2D-D90F-D3CEF132A8B6}"/>
              </a:ext>
            </a:extLst>
          </p:cNvPr>
          <p:cNvSpPr/>
          <p:nvPr/>
        </p:nvSpPr>
        <p:spPr>
          <a:xfrm>
            <a:off x="5728716" y="40507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1" descr="icons/activate_orange.png">
            <a:extLst>
              <a:ext uri="{FF2B5EF4-FFF2-40B4-BE49-F238E27FC236}">
                <a16:creationId xmlns:a16="http://schemas.microsoft.com/office/drawing/2014/main" id="{73BE6D4E-1CF5-6C62-957D-F4DF94933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4215384"/>
            <a:ext cx="402336" cy="402336"/>
          </a:xfrm>
          <a:prstGeom prst="rect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4073A19B-B157-AF16-036A-7BAB14E94B78}"/>
              </a:ext>
            </a:extLst>
          </p:cNvPr>
          <p:cNvSpPr txBox="1"/>
          <p:nvPr/>
        </p:nvSpPr>
        <p:spPr>
          <a:xfrm>
            <a:off x="4677156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A739036-7044-564B-A6CE-CDD32130BE92}"/>
              </a:ext>
            </a:extLst>
          </p:cNvPr>
          <p:cNvSpPr txBox="1"/>
          <p:nvPr/>
        </p:nvSpPr>
        <p:spPr>
          <a:xfrm>
            <a:off x="4860036" y="5184648"/>
            <a:ext cx="254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that decides when to speak</a:t>
            </a:r>
            <a:endParaRPr lang="en-US" sz="14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C9D06B9-E1DD-901F-F961-30623BD342B3}"/>
              </a:ext>
            </a:extLst>
          </p:cNvPr>
          <p:cNvSpPr txBox="1"/>
          <p:nvPr/>
        </p:nvSpPr>
        <p:spPr>
          <a:xfrm>
            <a:off x="7511796" y="4434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4AA633F6-11E4-5FC2-A1B7-55F11828AF33}"/>
              </a:ext>
            </a:extLst>
          </p:cNvPr>
          <p:cNvSpPr/>
          <p:nvPr/>
        </p:nvSpPr>
        <p:spPr>
          <a:xfrm>
            <a:off x="7877556" y="379476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20F426B4-C4F5-8170-E110-FB1EEEC2E51E}"/>
              </a:ext>
            </a:extLst>
          </p:cNvPr>
          <p:cNvSpPr/>
          <p:nvPr/>
        </p:nvSpPr>
        <p:spPr>
          <a:xfrm>
            <a:off x="8929116" y="405079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2" descr="icons/flask_orange.png">
            <a:extLst>
              <a:ext uri="{FF2B5EF4-FFF2-40B4-BE49-F238E27FC236}">
                <a16:creationId xmlns:a16="http://schemas.microsoft.com/office/drawing/2014/main" id="{86AD6BE7-8401-8146-AAEF-C3A6FD7CE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08" y="4215384"/>
            <a:ext cx="402336" cy="402336"/>
          </a:xfrm>
          <a:prstGeom prst="rect">
            <a:avLst/>
          </a:prstGeom>
        </p:spPr>
      </p:pic>
      <p:sp>
        <p:nvSpPr>
          <p:cNvPr id="44" name="Text 15">
            <a:extLst>
              <a:ext uri="{FF2B5EF4-FFF2-40B4-BE49-F238E27FC236}">
                <a16:creationId xmlns:a16="http://schemas.microsoft.com/office/drawing/2014/main" id="{83E91497-BE74-0E96-7D50-705D16CB233F}"/>
              </a:ext>
            </a:extLst>
          </p:cNvPr>
          <p:cNvSpPr txBox="1"/>
          <p:nvPr/>
        </p:nvSpPr>
        <p:spPr>
          <a:xfrm>
            <a:off x="7877556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029E75C2-62F4-3BED-DC72-2A7B23944BBE}"/>
              </a:ext>
            </a:extLst>
          </p:cNvPr>
          <p:cNvSpPr txBox="1"/>
          <p:nvPr/>
        </p:nvSpPr>
        <p:spPr>
          <a:xfrm>
            <a:off x="8060436" y="5184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idea on real frames</a:t>
            </a:r>
            <a:endParaRPr lang="en-US" sz="14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573F8EB1-E197-5C8D-5FEC-52129EE191F3}"/>
              </a:ext>
            </a:extLst>
          </p:cNvPr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video: youtube.com/watch?v=kCuXBR6-3p4</a:t>
            </a:r>
            <a:endParaRPr lang="en-US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8D1CAF4-BC3B-9D0B-4EC3-AE1E3B12179B}"/>
              </a:ext>
            </a:extLst>
          </p:cNvPr>
          <p:cNvSpPr txBox="1"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1725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64DEB99-61B1-E3DF-4FE1-C8746059F28A}"/>
              </a:ext>
            </a:extLst>
          </p:cNvPr>
          <p:cNvSpPr txBox="1"/>
          <p:nvPr/>
        </p:nvSpPr>
        <p:spPr>
          <a:xfrm>
            <a:off x="502920" y="18500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PROBLEM STATEMENT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2A166F5-5732-830B-ADD5-86714BAF3B53}"/>
              </a:ext>
            </a:extLst>
          </p:cNvPr>
          <p:cNvSpPr txBox="1"/>
          <p:nvPr/>
        </p:nvSpPr>
        <p:spPr>
          <a:xfrm>
            <a:off x="502920" y="68580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cooking guidance arrives too late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283197C-715E-D705-7402-0EEE04D893C6}"/>
              </a:ext>
            </a:extLst>
          </p:cNvPr>
          <p:cNvSpPr txBox="1"/>
          <p:nvPr/>
        </p:nvSpPr>
        <p:spPr>
          <a:xfrm>
            <a:off x="50292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test case derived from the keynote's proactive-assistant example</a:t>
            </a:r>
            <a:endParaRPr lang="en-US" sz="1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5D06632-6216-11E4-8133-ADF0A88E5707}"/>
              </a:ext>
            </a:extLst>
          </p:cNvPr>
          <p:cNvSpPr/>
          <p:nvPr/>
        </p:nvSpPr>
        <p:spPr>
          <a:xfrm>
            <a:off x="502920" y="2148840"/>
            <a:ext cx="512064" cy="512064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clock_white.png">
            <a:extLst>
              <a:ext uri="{FF2B5EF4-FFF2-40B4-BE49-F238E27FC236}">
                <a16:creationId xmlns:a16="http://schemas.microsoft.com/office/drawing/2014/main" id="{803CAFF2-EBF2-5CE8-C4CA-A67C9ADD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67712"/>
            <a:ext cx="274320" cy="27432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DBEE7294-E329-6CDF-2C61-4004387ECD1E}"/>
              </a:ext>
            </a:extLst>
          </p:cNvPr>
          <p:cNvSpPr txBox="1"/>
          <p:nvPr/>
        </p:nvSpPr>
        <p:spPr>
          <a:xfrm>
            <a:off x="1216152" y="2121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moment, not the recap</a:t>
            </a:r>
            <a:endParaRPr lang="en-US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BF77B70-04A5-F383-2F91-891A1AB10451}"/>
              </a:ext>
            </a:extLst>
          </p:cNvPr>
          <p:cNvSpPr txBox="1"/>
          <p:nvPr/>
        </p:nvSpPr>
        <p:spPr>
          <a:xfrm>
            <a:off x="1216152" y="24231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 cooks following a recipe on a phone often need help at the moment an action changes, not after the step is over.</a:t>
            </a:r>
            <a:endParaRPr lang="en-US" sz="16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FC27D59-5D5C-A6A3-2A00-BF52C2E6808D}"/>
              </a:ext>
            </a:extLst>
          </p:cNvPr>
          <p:cNvSpPr/>
          <p:nvPr/>
        </p:nvSpPr>
        <p:spPr>
          <a:xfrm>
            <a:off x="502920" y="3364992"/>
            <a:ext cx="512064" cy="512064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warning_white.png">
            <a:extLst>
              <a:ext uri="{FF2B5EF4-FFF2-40B4-BE49-F238E27FC236}">
                <a16:creationId xmlns:a16="http://schemas.microsoft.com/office/drawing/2014/main" id="{640C3488-B309-DCC6-63F4-B49C9A6C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83864"/>
            <a:ext cx="274320" cy="27432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45FABC52-AAE3-04D9-B3A3-268320C9D1A6}"/>
              </a:ext>
            </a:extLst>
          </p:cNvPr>
          <p:cNvSpPr txBox="1"/>
          <p:nvPr/>
        </p:nvSpPr>
        <p:spPr>
          <a:xfrm>
            <a:off x="1216152" y="33375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mistakes, real cost</a:t>
            </a:r>
            <a:endParaRPr 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FF36109-8CA5-5C53-0B5A-1EE7272570F1}"/>
              </a:ext>
            </a:extLst>
          </p:cNvPr>
          <p:cNvSpPr txBox="1"/>
          <p:nvPr/>
        </p:nvSpPr>
        <p:spPr>
          <a:xfrm>
            <a:off x="1216152" y="3639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missing that moment is small but real: a wrong order, unsafe handling, or a failed dish.</a:t>
            </a:r>
            <a:endParaRPr lang="en-US" sz="16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2ABC114-C849-1167-5124-CDB420A4B8AF}"/>
              </a:ext>
            </a:extLst>
          </p:cNvPr>
          <p:cNvSpPr/>
          <p:nvPr/>
        </p:nvSpPr>
        <p:spPr>
          <a:xfrm>
            <a:off x="502920" y="4581144"/>
            <a:ext cx="512064" cy="512064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video_white.png">
            <a:extLst>
              <a:ext uri="{FF2B5EF4-FFF2-40B4-BE49-F238E27FC236}">
                <a16:creationId xmlns:a16="http://schemas.microsoft.com/office/drawing/2014/main" id="{A561C3C9-BF70-0FE5-5C1E-DF44994B8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700016"/>
            <a:ext cx="274320" cy="27432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A18ED67-0642-4C55-6C95-5974C72AE6A2}"/>
              </a:ext>
            </a:extLst>
          </p:cNvPr>
          <p:cNvSpPr txBox="1"/>
          <p:nvPr/>
        </p:nvSpPr>
        <p:spPr>
          <a:xfrm>
            <a:off x="1216152" y="45537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tools don't decide</a:t>
            </a:r>
            <a:endParaRPr 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293C30E-8B57-7F30-B9B3-242C090C6149}"/>
              </a:ext>
            </a:extLst>
          </p:cNvPr>
          <p:cNvSpPr txBox="1"/>
          <p:nvPr/>
        </p:nvSpPr>
        <p:spPr>
          <a:xfrm>
            <a:off x="1216152" y="485546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video player is passive, and a standard Q&amp;A assistant waits for another question. Neither one decides when to step in.</a:t>
            </a:r>
            <a:endParaRPr lang="en-US" sz="16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CA00AE9-4221-10FA-3122-E9DA241ACFA5}"/>
              </a:ext>
            </a:extLst>
          </p:cNvPr>
          <p:cNvSpPr/>
          <p:nvPr/>
        </p:nvSpPr>
        <p:spPr>
          <a:xfrm>
            <a:off x="502920" y="5701611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6EE1998-E30A-DA77-1C79-2EB713F2D8C7}"/>
              </a:ext>
            </a:extLst>
          </p:cNvPr>
          <p:cNvSpPr txBox="1"/>
          <p:nvPr/>
        </p:nvSpPr>
        <p:spPr>
          <a:xfrm>
            <a:off x="621792" y="5701611"/>
            <a:ext cx="6739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question: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small visual stream test trigger a useful “answer now” decision?</a:t>
            </a:r>
            <a:endParaRPr lang="en-US" sz="14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C09EDA6D-D784-9BC9-1607-B3D3CBF29295}"/>
              </a:ext>
            </a:extLst>
          </p:cNvPr>
          <p:cNvSpPr/>
          <p:nvPr/>
        </p:nvSpPr>
        <p:spPr>
          <a:xfrm>
            <a:off x="7818120" y="685800"/>
            <a:ext cx="3867912" cy="5074920"/>
          </a:xfrm>
          <a:prstGeom prst="roundRect">
            <a:avLst>
              <a:gd name="adj" fmla="val 2837"/>
            </a:avLst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C7E04F9-8B70-2B04-E535-0576652E5065}"/>
              </a:ext>
            </a:extLst>
          </p:cNvPr>
          <p:cNvSpPr txBox="1"/>
          <p:nvPr/>
        </p:nvSpPr>
        <p:spPr>
          <a:xfrm>
            <a:off x="8138160" y="9601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 MOMENT</a:t>
            </a:r>
            <a:endParaRPr lang="en-US" sz="12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09D87F6-688D-7712-3585-744FEB043465}"/>
              </a:ext>
            </a:extLst>
          </p:cNvPr>
          <p:cNvSpPr txBox="1"/>
          <p:nvPr/>
        </p:nvSpPr>
        <p:spPr>
          <a:xfrm>
            <a:off x="8138160" y="1325880"/>
            <a:ext cx="3227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how do I cook this food”</a:t>
            </a:r>
            <a:endParaRPr lang="en-US" sz="24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09C2EA8-1467-6D69-77E2-743472489B2F}"/>
              </a:ext>
            </a:extLst>
          </p:cNvPr>
          <p:cNvSpPr txBox="1"/>
          <p:nvPr/>
        </p:nvSpPr>
        <p:spPr>
          <a:xfrm>
            <a:off x="8138160" y="2743200"/>
            <a:ext cx="3227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speaker's example asks the model to monitor the video and respond only when the visual state warrants guidance.</a:t>
            </a:r>
            <a:endParaRPr lang="en-US" sz="16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BF86D5CB-4B99-BF33-7ADB-207F5C989677}"/>
              </a:ext>
            </a:extLst>
          </p:cNvPr>
          <p:cNvSpPr/>
          <p:nvPr/>
        </p:nvSpPr>
        <p:spPr>
          <a:xfrm>
            <a:off x="8138160" y="4069080"/>
            <a:ext cx="322783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5610E4C6-378A-14AD-A236-4527610AB45D}"/>
              </a:ext>
            </a:extLst>
          </p:cNvPr>
          <p:cNvSpPr txBox="1"/>
          <p:nvPr/>
        </p:nvSpPr>
        <p:spPr>
          <a:xfrm>
            <a:off x="8138160" y="42519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TIMESTAMPS</a:t>
            </a:r>
            <a:endParaRPr lang="en-US" sz="11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21BDD97C-DC98-50FC-7134-FDB14946AC00}"/>
              </a:ext>
            </a:extLst>
          </p:cNvPr>
          <p:cNvSpPr/>
          <p:nvPr/>
        </p:nvSpPr>
        <p:spPr>
          <a:xfrm>
            <a:off x="8138160" y="4572000"/>
            <a:ext cx="32278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C1239C7-46C5-ED2E-FE8D-C3A4C275DFC4}"/>
              </a:ext>
            </a:extLst>
          </p:cNvPr>
          <p:cNvSpPr txBox="1"/>
          <p:nvPr/>
        </p:nvSpPr>
        <p:spPr>
          <a:xfrm>
            <a:off x="8138160" y="457200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14:08–14:39</a:t>
            </a:r>
            <a:endParaRPr lang="en-US" sz="12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E84853A8-81CD-62C5-5481-D0177AD595A8}"/>
              </a:ext>
            </a:extLst>
          </p:cNvPr>
          <p:cNvSpPr/>
          <p:nvPr/>
        </p:nvSpPr>
        <p:spPr>
          <a:xfrm>
            <a:off x="8138160" y="5074920"/>
            <a:ext cx="32278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2B5B243F-C6EC-42E8-CFD9-34403E763EE2}"/>
              </a:ext>
            </a:extLst>
          </p:cNvPr>
          <p:cNvSpPr txBox="1"/>
          <p:nvPr/>
        </p:nvSpPr>
        <p:spPr>
          <a:xfrm>
            <a:off x="8138160" y="50749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16:45–18:19</a:t>
            </a:r>
            <a:endParaRPr lang="en-US" sz="125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B06F3A4B-4D8E-1534-38CD-12BDB5F6045A}"/>
              </a:ext>
            </a:extLst>
          </p:cNvPr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keynote transcript timestamps  •  youtube.com/watch?v=kCuXBR6-3p4</a:t>
            </a:r>
            <a:endParaRPr lang="en-US" sz="10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749EA85-6509-811E-2FC0-02C466EDCB60}"/>
              </a:ext>
            </a:extLst>
          </p:cNvPr>
          <p:cNvSpPr txBox="1"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2028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50B3830-72D4-AB2F-8524-A2277B061C57}"/>
              </a:ext>
            </a:extLst>
          </p:cNvPr>
          <p:cNvSpPr txBox="1"/>
          <p:nvPr/>
        </p:nvSpPr>
        <p:spPr>
          <a:xfrm>
            <a:off x="503377" y="2834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SOLUTION IDEA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A220EE1-2650-4790-797D-D01245CB19B4}"/>
              </a:ext>
            </a:extLst>
          </p:cNvPr>
          <p:cNvSpPr txBox="1"/>
          <p:nvPr/>
        </p:nvSpPr>
        <p:spPr>
          <a:xfrm>
            <a:off x="502920" y="68580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 assistant with a bounded visual memory</a:t>
            </a:r>
            <a:endParaRPr lang="en-US" sz="3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49060B9-0489-75A4-ABE7-CBE01B1EB7E1}"/>
              </a:ext>
            </a:extLst>
          </p:cNvPr>
          <p:cNvSpPr txBox="1"/>
          <p:nvPr/>
        </p:nvSpPr>
        <p:spPr>
          <a:xfrm>
            <a:off x="502920" y="129844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StreamBridge gives an offline Video-LLM two missing behaviors: when to answer, and how to keep only useful history.</a:t>
            </a:r>
            <a:endParaRPr lang="en-US" sz="1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B2E2045-A14B-76F2-9379-14F1BDB770E1}"/>
              </a:ext>
            </a:extLst>
          </p:cNvPr>
          <p:cNvSpPr/>
          <p:nvPr/>
        </p:nvSpPr>
        <p:spPr>
          <a:xfrm>
            <a:off x="493776" y="196596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AD61C4D-2929-E9F7-D836-3B0ABB2BD3E7}"/>
              </a:ext>
            </a:extLst>
          </p:cNvPr>
          <p:cNvSpPr/>
          <p:nvPr/>
        </p:nvSpPr>
        <p:spPr>
          <a:xfrm>
            <a:off x="1316736" y="2194560"/>
            <a:ext cx="640080" cy="640080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rames_white.png">
            <a:extLst>
              <a:ext uri="{FF2B5EF4-FFF2-40B4-BE49-F238E27FC236}">
                <a16:creationId xmlns:a16="http://schemas.microsoft.com/office/drawing/2014/main" id="{50DCE6F4-7036-99C0-77F6-DBF5D9A5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340864"/>
            <a:ext cx="347472" cy="34747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6A14ED0-3CCB-6922-D3F0-938414D3F8AF}"/>
              </a:ext>
            </a:extLst>
          </p:cNvPr>
          <p:cNvSpPr txBox="1"/>
          <p:nvPr/>
        </p:nvSpPr>
        <p:spPr>
          <a:xfrm>
            <a:off x="493776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4F4DE66-A7EF-D26F-3A16-2E802AEFD3A6}"/>
              </a:ext>
            </a:extLst>
          </p:cNvPr>
          <p:cNvSpPr txBox="1"/>
          <p:nvPr/>
        </p:nvSpPr>
        <p:spPr>
          <a:xfrm>
            <a:off x="493776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DF39D8D-ECED-618F-2636-DE986B97516E}"/>
              </a:ext>
            </a:extLst>
          </p:cNvPr>
          <p:cNvSpPr txBox="1"/>
          <p:nvPr/>
        </p:nvSpPr>
        <p:spPr>
          <a:xfrm>
            <a:off x="2779776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0B50856-1ED5-6F7D-722E-00D0DF8F6F0C}"/>
              </a:ext>
            </a:extLst>
          </p:cNvPr>
          <p:cNvSpPr/>
          <p:nvPr/>
        </p:nvSpPr>
        <p:spPr>
          <a:xfrm>
            <a:off x="3099816" y="196596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3B61986-BF41-2FFE-F342-D960442AC1DA}"/>
              </a:ext>
            </a:extLst>
          </p:cNvPr>
          <p:cNvSpPr/>
          <p:nvPr/>
        </p:nvSpPr>
        <p:spPr>
          <a:xfrm>
            <a:off x="3922776" y="2194560"/>
            <a:ext cx="640080" cy="640080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icons/buffer_white.png">
            <a:extLst>
              <a:ext uri="{FF2B5EF4-FFF2-40B4-BE49-F238E27FC236}">
                <a16:creationId xmlns:a16="http://schemas.microsoft.com/office/drawing/2014/main" id="{247A5320-2C46-FC80-3958-D1E387329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340864"/>
            <a:ext cx="347472" cy="347472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EFE5C601-5684-BBF3-DEC1-CCDA0004DC45}"/>
              </a:ext>
            </a:extLst>
          </p:cNvPr>
          <p:cNvSpPr txBox="1"/>
          <p:nvPr/>
        </p:nvSpPr>
        <p:spPr>
          <a:xfrm>
            <a:off x="3099816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14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2B45E22-BEBC-03F9-C83D-4AAB1A6B041F}"/>
              </a:ext>
            </a:extLst>
          </p:cNvPr>
          <p:cNvSpPr txBox="1"/>
          <p:nvPr/>
        </p:nvSpPr>
        <p:spPr>
          <a:xfrm>
            <a:off x="3099816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4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0C0BB34D-A3C8-D11F-10A1-8B31CB9AFADF}"/>
              </a:ext>
            </a:extLst>
          </p:cNvPr>
          <p:cNvSpPr txBox="1"/>
          <p:nvPr/>
        </p:nvSpPr>
        <p:spPr>
          <a:xfrm>
            <a:off x="5385816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4E75B1D-A041-CE37-3254-B674990B4998}"/>
              </a:ext>
            </a:extLst>
          </p:cNvPr>
          <p:cNvSpPr/>
          <p:nvPr/>
        </p:nvSpPr>
        <p:spPr>
          <a:xfrm>
            <a:off x="5705856" y="196596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11635068-841A-41E0-8EC6-C6F96C9C3468}"/>
              </a:ext>
            </a:extLst>
          </p:cNvPr>
          <p:cNvSpPr/>
          <p:nvPr/>
        </p:nvSpPr>
        <p:spPr>
          <a:xfrm>
            <a:off x="6528816" y="2194560"/>
            <a:ext cx="640080" cy="640080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icons/activate_white.png">
            <a:extLst>
              <a:ext uri="{FF2B5EF4-FFF2-40B4-BE49-F238E27FC236}">
                <a16:creationId xmlns:a16="http://schemas.microsoft.com/office/drawing/2014/main" id="{8309F16B-B2F0-320F-5F9E-120D89C9C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40864"/>
            <a:ext cx="347472" cy="347472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11B4E980-3BE5-C607-5674-D36963ADC0F7}"/>
              </a:ext>
            </a:extLst>
          </p:cNvPr>
          <p:cNvSpPr txBox="1"/>
          <p:nvPr/>
        </p:nvSpPr>
        <p:spPr>
          <a:xfrm>
            <a:off x="5705856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6C7A876A-23C8-BAED-8CE6-6F7B83CFD6D8}"/>
              </a:ext>
            </a:extLst>
          </p:cNvPr>
          <p:cNvSpPr txBox="1"/>
          <p:nvPr/>
        </p:nvSpPr>
        <p:spPr>
          <a:xfrm>
            <a:off x="5705856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/ answer</a:t>
            </a:r>
            <a:endParaRPr lang="en-US" sz="14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246FBB6A-60D5-C90F-A32A-E628E93ADB02}"/>
              </a:ext>
            </a:extLst>
          </p:cNvPr>
          <p:cNvSpPr txBox="1"/>
          <p:nvPr/>
        </p:nvSpPr>
        <p:spPr>
          <a:xfrm>
            <a:off x="7991856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9A56A63E-3788-7833-D9E8-061187BDBE0A}"/>
              </a:ext>
            </a:extLst>
          </p:cNvPr>
          <p:cNvSpPr/>
          <p:nvPr/>
        </p:nvSpPr>
        <p:spPr>
          <a:xfrm>
            <a:off x="8311896" y="196596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94CB31F-D7DF-ED41-59E0-BC8460273CDE}"/>
              </a:ext>
            </a:extLst>
          </p:cNvPr>
          <p:cNvSpPr/>
          <p:nvPr/>
        </p:nvSpPr>
        <p:spPr>
          <a:xfrm>
            <a:off x="9134856" y="2194560"/>
            <a:ext cx="640080" cy="640080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icons/coach_white.png">
            <a:extLst>
              <a:ext uri="{FF2B5EF4-FFF2-40B4-BE49-F238E27FC236}">
                <a16:creationId xmlns:a16="http://schemas.microsoft.com/office/drawing/2014/main" id="{3578A522-F9F6-CE49-5115-3A20E9931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340864"/>
            <a:ext cx="347472" cy="34747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F7F3A987-2BF2-3A93-9FFC-61E3A0F18FD5}"/>
              </a:ext>
            </a:extLst>
          </p:cNvPr>
          <p:cNvSpPr txBox="1"/>
          <p:nvPr/>
        </p:nvSpPr>
        <p:spPr>
          <a:xfrm>
            <a:off x="8311896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14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2C96C82-07F3-0BAC-6CBB-57C3FDCE373A}"/>
              </a:ext>
            </a:extLst>
          </p:cNvPr>
          <p:cNvSpPr txBox="1"/>
          <p:nvPr/>
        </p:nvSpPr>
        <p:spPr>
          <a:xfrm>
            <a:off x="8311896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</a:t>
            </a:r>
            <a:endParaRPr lang="en-US" sz="14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8F21A222-9417-1C19-3C19-37E87B112B57}"/>
              </a:ext>
            </a:extLst>
          </p:cNvPr>
          <p:cNvSpPr/>
          <p:nvPr/>
        </p:nvSpPr>
        <p:spPr>
          <a:xfrm>
            <a:off x="502920" y="4069080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6942046D-5277-B2A2-6840-F4EE6B31AFA0}"/>
              </a:ext>
            </a:extLst>
          </p:cNvPr>
          <p:cNvSpPr/>
          <p:nvPr/>
        </p:nvSpPr>
        <p:spPr>
          <a:xfrm>
            <a:off x="758952" y="4215384"/>
            <a:ext cx="128016" cy="128016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EC985119-3798-EFD4-C191-38883748D9A8}"/>
              </a:ext>
            </a:extLst>
          </p:cNvPr>
          <p:cNvSpPr txBox="1"/>
          <p:nvPr/>
        </p:nvSpPr>
        <p:spPr>
          <a:xfrm>
            <a:off x="1005840" y="416052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memory</a:t>
            </a:r>
            <a:endParaRPr lang="en-US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90761272-DF7A-6227-017E-C9042EA9C4F3}"/>
              </a:ext>
            </a:extLst>
          </p:cNvPr>
          <p:cNvSpPr txBox="1"/>
          <p:nvPr/>
        </p:nvSpPr>
        <p:spPr>
          <a:xfrm>
            <a:off x="777240" y="447141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short buffer of visual history, then apply round-decay compression before sending context to the full Video-LLM.</a:t>
            </a:r>
            <a:endParaRPr lang="en-US" sz="14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C056CF9B-60D2-0626-80DA-8BE4FCB546C6}"/>
              </a:ext>
            </a:extLst>
          </p:cNvPr>
          <p:cNvSpPr/>
          <p:nvPr/>
        </p:nvSpPr>
        <p:spPr>
          <a:xfrm>
            <a:off x="6277356" y="4069080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8C7F954F-1A30-3478-0AF2-B024E8E6F281}"/>
              </a:ext>
            </a:extLst>
          </p:cNvPr>
          <p:cNvSpPr/>
          <p:nvPr/>
        </p:nvSpPr>
        <p:spPr>
          <a:xfrm>
            <a:off x="6533388" y="4215384"/>
            <a:ext cx="128016" cy="128016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BF5F2433-86EE-8EF8-9D1C-85683F91BD0A}"/>
              </a:ext>
            </a:extLst>
          </p:cNvPr>
          <p:cNvSpPr txBox="1"/>
          <p:nvPr/>
        </p:nvSpPr>
        <p:spPr>
          <a:xfrm>
            <a:off x="6780276" y="4160520"/>
            <a:ext cx="4677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gate</a:t>
            </a:r>
            <a:endParaRPr lang="en-US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740EAF90-BF0A-8090-80E3-0D3DB269B534}"/>
              </a:ext>
            </a:extLst>
          </p:cNvPr>
          <p:cNvSpPr txBox="1"/>
          <p:nvPr/>
        </p:nvSpPr>
        <p:spPr>
          <a:xfrm>
            <a:off x="6551676" y="447141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LLaVA-OneVision-based activation module watches the newest frame and predicts WAIT vs. ANSWER_NOW.</a:t>
            </a:r>
            <a:endParaRPr lang="en-US" sz="14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C3FF0BEA-808C-D293-43F7-D7C9C2078ADF}"/>
              </a:ext>
            </a:extLst>
          </p:cNvPr>
          <p:cNvSpPr txBox="1"/>
          <p:nvPr/>
        </p:nvSpPr>
        <p:spPr>
          <a:xfrm>
            <a:off x="50292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94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THE TALK</a:t>
            </a:r>
            <a:endParaRPr lang="en-US" sz="140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D2EBCD0F-AED8-B66F-815B-18DD328440E7}"/>
              </a:ext>
            </a:extLst>
          </p:cNvPr>
          <p:cNvSpPr/>
          <p:nvPr/>
        </p:nvSpPr>
        <p:spPr>
          <a:xfrm>
            <a:off x="502920" y="5641848"/>
            <a:ext cx="1404518" cy="329184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F1136A7C-B093-2C20-FE57-A4795D19247F}"/>
              </a:ext>
            </a:extLst>
          </p:cNvPr>
          <p:cNvSpPr txBox="1"/>
          <p:nvPr/>
        </p:nvSpPr>
        <p:spPr>
          <a:xfrm>
            <a:off x="502920" y="5641848"/>
            <a:ext cx="14045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StreamBridge</a:t>
            </a:r>
            <a:endParaRPr lang="en-US" sz="1100" dirty="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697777A5-083C-5F47-9E94-1E729D4FCEFC}"/>
              </a:ext>
            </a:extLst>
          </p:cNvPr>
          <p:cNvSpPr/>
          <p:nvPr/>
        </p:nvSpPr>
        <p:spPr>
          <a:xfrm>
            <a:off x="2044598" y="5641848"/>
            <a:ext cx="1149401" cy="329184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B8AE1C8B-0EAA-E02A-90E2-6EAED4C67E7B}"/>
              </a:ext>
            </a:extLst>
          </p:cNvPr>
          <p:cNvSpPr txBox="1"/>
          <p:nvPr/>
        </p:nvSpPr>
        <p:spPr>
          <a:xfrm>
            <a:off x="2044598" y="5641848"/>
            <a:ext cx="11494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Stream-IT</a:t>
            </a:r>
            <a:endParaRPr lang="en-US" sz="11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40FCAD50-D7C7-D206-FD73-28087A9C8966}"/>
              </a:ext>
            </a:extLst>
          </p:cNvPr>
          <p:cNvSpPr/>
          <p:nvPr/>
        </p:nvSpPr>
        <p:spPr>
          <a:xfrm>
            <a:off x="3331159" y="5641848"/>
            <a:ext cx="1659636" cy="329184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6D3528E4-9E74-8785-A51C-3762E06B62F4}"/>
              </a:ext>
            </a:extLst>
          </p:cNvPr>
          <p:cNvSpPr txBox="1"/>
          <p:nvPr/>
        </p:nvSpPr>
        <p:spPr>
          <a:xfrm>
            <a:off x="3331159" y="5641848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LLaVA-OneVision</a:t>
            </a:r>
            <a:endParaRPr lang="en-US" sz="14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15C82A70-BE2B-4AE5-0633-2D0528A18DE9}"/>
              </a:ext>
            </a:extLst>
          </p:cNvPr>
          <p:cNvSpPr txBox="1"/>
          <p:nvPr/>
        </p:nvSpPr>
        <p:spPr>
          <a:xfrm>
            <a:off x="502920" y="60624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one feasibility question before a full live cooking system: can a visual model identify a moment worth interrupting for?</a:t>
            </a:r>
            <a:endParaRPr lang="en-US" sz="1400" dirty="0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B979E831-D7B9-7477-7840-00FE2B6D631E}"/>
              </a:ext>
            </a:extLst>
          </p:cNvPr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keynote transcript 15:10–19:51, 20:25–23:34  •  arxiv.org/abs/2505.05467</a:t>
            </a:r>
            <a:endParaRPr lang="en-US" sz="1000" dirty="0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E41EA7CE-6CC4-2741-B2E4-5AE06C92759A}"/>
              </a:ext>
            </a:extLst>
          </p:cNvPr>
          <p:cNvSpPr txBox="1"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453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644E169-02F4-EFAC-6CD0-64644CC1FA59}"/>
              </a:ext>
            </a:extLst>
          </p:cNvPr>
          <p:cNvSpPr txBox="1"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FEASIBILITY ANALYSIS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5E3B5A0-DD39-1341-64B2-A7ED39F9B0BE}"/>
              </a:ext>
            </a:extLst>
          </p:cNvPr>
          <p:cNvSpPr txBox="1"/>
          <p:nvPr/>
        </p:nvSpPr>
        <p:spPr>
          <a:xfrm>
            <a:off x="502920" y="6858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bigger local model fixes the format, but takes 11x longer</a:t>
            </a:r>
            <a:endParaRPr lang="en-US" sz="2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15E0AB0-66CA-2690-94C5-004C54B016B4}"/>
              </a:ext>
            </a:extLst>
          </p:cNvPr>
          <p:cNvSpPr txBox="1"/>
          <p:nvPr/>
        </p:nvSpPr>
        <p:spPr>
          <a:xfrm>
            <a:off x="502920" y="1280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5-frame contact sheet (toy-kitchen demo, ~10:58–12:01), two local Ollama models</a:t>
            </a:r>
            <a:endParaRPr lang="en-US" sz="125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FFCEFDD-37D2-AA58-9AA4-D661E768625D}"/>
              </a:ext>
            </a:extLst>
          </p:cNvPr>
          <p:cNvSpPr/>
          <p:nvPr/>
        </p:nvSpPr>
        <p:spPr>
          <a:xfrm>
            <a:off x="502920" y="182880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4479D5D-AC94-A226-38BA-ECFE983AFA1D}"/>
              </a:ext>
            </a:extLst>
          </p:cNvPr>
          <p:cNvSpPr/>
          <p:nvPr/>
        </p:nvSpPr>
        <p:spPr>
          <a:xfrm>
            <a:off x="704088" y="2011680"/>
            <a:ext cx="420624" cy="420624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flask_white.png">
            <a:extLst>
              <a:ext uri="{FF2B5EF4-FFF2-40B4-BE49-F238E27FC236}">
                <a16:creationId xmlns:a16="http://schemas.microsoft.com/office/drawing/2014/main" id="{F535072E-0862-FDB0-C032-5488CB80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121408"/>
            <a:ext cx="201168" cy="20116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744D02F2-DA7D-19F1-0FE4-931594C4FC3F}"/>
              </a:ext>
            </a:extLst>
          </p:cNvPr>
          <p:cNvSpPr txBox="1"/>
          <p:nvPr/>
        </p:nvSpPr>
        <p:spPr>
          <a:xfrm>
            <a:off x="1216152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MOONDREAM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5B17E1A-6734-B2D7-3F21-DF7085FF61FC}"/>
              </a:ext>
            </a:extLst>
          </p:cNvPr>
          <p:cNvSpPr txBox="1"/>
          <p:nvPr/>
        </p:nvSpPr>
        <p:spPr>
          <a:xfrm>
            <a:off x="731520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 </a:t>
            </a:r>
            <a:r>
              <a:rPr lang="en-US" sz="16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1.08s</a:t>
            </a:r>
            <a:endParaRPr lang="en-US" sz="1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A57FEE7-C6CA-F2FB-BD1D-D62C76DCCEF0}"/>
              </a:ext>
            </a:extLst>
          </p:cNvPr>
          <p:cNvSpPr/>
          <p:nvPr/>
        </p:nvSpPr>
        <p:spPr>
          <a:xfrm>
            <a:off x="2263140" y="2578608"/>
            <a:ext cx="256032" cy="256032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ross_white.png">
            <a:extLst>
              <a:ext uri="{FF2B5EF4-FFF2-40B4-BE49-F238E27FC236}">
                <a16:creationId xmlns:a16="http://schemas.microsoft.com/office/drawing/2014/main" id="{DBE245F0-2C04-3407-FF68-17CB28B6E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004" y="2633472"/>
            <a:ext cx="146304" cy="146304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8D093382-7006-4C42-329C-4B3075F09B6D}"/>
              </a:ext>
            </a:extLst>
          </p:cNvPr>
          <p:cNvSpPr txBox="1"/>
          <p:nvPr/>
        </p:nvSpPr>
        <p:spPr>
          <a:xfrm>
            <a:off x="2583180" y="2542032"/>
            <a:ext cx="112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grounded</a:t>
            </a:r>
            <a:endParaRPr lang="en-US" sz="11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DCE6D46-24F3-6EAE-11C8-F98ED4CDA3E6}"/>
              </a:ext>
            </a:extLst>
          </p:cNvPr>
          <p:cNvSpPr/>
          <p:nvPr/>
        </p:nvSpPr>
        <p:spPr>
          <a:xfrm>
            <a:off x="731520" y="2999232"/>
            <a:ext cx="2743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9B61DC6-1896-B924-6989-2A5F908F0A8B}"/>
              </a:ext>
            </a:extLst>
          </p:cNvPr>
          <p:cNvSpPr txBox="1"/>
          <p:nvPr/>
        </p:nvSpPr>
        <p:spPr>
          <a:xfrm>
            <a:off x="73152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“[0.39, 0.62, 0.48, 0.69]”</a:t>
            </a:r>
            <a:endParaRPr lang="en-US" sz="12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0B92444-B3E2-C5BE-B5FA-B774AD73F0C8}"/>
              </a:ext>
            </a:extLst>
          </p:cNvPr>
          <p:cNvSpPr txBox="1"/>
          <p:nvPr/>
        </p:nvSpPr>
        <p:spPr>
          <a:xfrm>
            <a:off x="731520" y="3639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raw numbers instead of a caption, so it isn't usable as a trigger decision.</a:t>
            </a:r>
            <a:endParaRPr lang="en-US" sz="11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8821F0D3-2499-BBA0-4541-05FD5972942F}"/>
              </a:ext>
            </a:extLst>
          </p:cNvPr>
          <p:cNvSpPr/>
          <p:nvPr/>
        </p:nvSpPr>
        <p:spPr>
          <a:xfrm>
            <a:off x="3977640" y="182880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BC76536-1080-9CD1-914A-02D945A35DA7}"/>
              </a:ext>
            </a:extLst>
          </p:cNvPr>
          <p:cNvSpPr/>
          <p:nvPr/>
        </p:nvSpPr>
        <p:spPr>
          <a:xfrm>
            <a:off x="4178808" y="2011680"/>
            <a:ext cx="420624" cy="420624"/>
          </a:xfrm>
          <a:prstGeom prst="ellipse">
            <a:avLst/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flask_white.png">
            <a:extLst>
              <a:ext uri="{FF2B5EF4-FFF2-40B4-BE49-F238E27FC236}">
                <a16:creationId xmlns:a16="http://schemas.microsoft.com/office/drawing/2014/main" id="{7BDBE56D-914E-DF70-E196-2E5A6B2C2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121408"/>
            <a:ext cx="201168" cy="201168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60960D07-5BEB-B21D-9356-B37D162D0CEB}"/>
              </a:ext>
            </a:extLst>
          </p:cNvPr>
          <p:cNvSpPr txBox="1"/>
          <p:nvPr/>
        </p:nvSpPr>
        <p:spPr>
          <a:xfrm>
            <a:off x="4690872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LLAVA:7B</a:t>
            </a:r>
            <a:endParaRPr lang="en-US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CCBC1AB-1D0C-B47C-2CC6-1707B2C49DDF}"/>
              </a:ext>
            </a:extLst>
          </p:cNvPr>
          <p:cNvSpPr txBox="1"/>
          <p:nvPr/>
        </p:nvSpPr>
        <p:spPr>
          <a:xfrm>
            <a:off x="4206240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 </a:t>
            </a:r>
            <a:r>
              <a:rPr lang="en-US" sz="16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11.85s</a:t>
            </a:r>
            <a:endParaRPr lang="en-US" sz="10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628E71C3-9229-D626-29C7-B2C71370D284}"/>
              </a:ext>
            </a:extLst>
          </p:cNvPr>
          <p:cNvSpPr/>
          <p:nvPr/>
        </p:nvSpPr>
        <p:spPr>
          <a:xfrm>
            <a:off x="5737860" y="257860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check_white.png">
            <a:extLst>
              <a:ext uri="{FF2B5EF4-FFF2-40B4-BE49-F238E27FC236}">
                <a16:creationId xmlns:a16="http://schemas.microsoft.com/office/drawing/2014/main" id="{D3F20C69-FA03-94CD-7A85-1558443F7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633472"/>
            <a:ext cx="146304" cy="146304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76F6BD41-0EDC-6FC1-D092-3B0D7AC8957F}"/>
              </a:ext>
            </a:extLst>
          </p:cNvPr>
          <p:cNvSpPr txBox="1"/>
          <p:nvPr/>
        </p:nvSpPr>
        <p:spPr>
          <a:xfrm>
            <a:off x="6057900" y="2542032"/>
            <a:ext cx="11201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matched</a:t>
            </a:r>
            <a:endParaRPr lang="en-US" sz="11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3948DFB0-E4B6-6224-4524-9D939332C36B}"/>
              </a:ext>
            </a:extLst>
          </p:cNvPr>
          <p:cNvSpPr/>
          <p:nvPr/>
        </p:nvSpPr>
        <p:spPr>
          <a:xfrm>
            <a:off x="4206240" y="2999232"/>
            <a:ext cx="2743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72C1BC8-6F71-9CCD-2349-1C919A11E151}"/>
              </a:ext>
            </a:extLst>
          </p:cNvPr>
          <p:cNvSpPr txBox="1"/>
          <p:nvPr/>
        </p:nvSpPr>
        <p:spPr>
          <a:xfrm>
            <a:off x="420624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“Frame 5 shows an incomplete step, so it's better to wait for more frames.”</a:t>
            </a:r>
            <a:endParaRPr lang="en-US" sz="12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8F921760-9A76-8004-14E1-7B049F1FB03C}"/>
              </a:ext>
            </a:extLst>
          </p:cNvPr>
          <p:cNvSpPr txBox="1"/>
          <p:nvPr/>
        </p:nvSpPr>
        <p:spPr>
          <a:xfrm>
            <a:off x="4206240" y="3639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formatted, grounded reasoning tied to the actual frame.</a:t>
            </a:r>
            <a:endParaRPr lang="en-US" sz="11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A7DDEAFF-5640-2AEB-BA4A-13E8CF3A4191}"/>
              </a:ext>
            </a:extLst>
          </p:cNvPr>
          <p:cNvSpPr/>
          <p:nvPr/>
        </p:nvSpPr>
        <p:spPr>
          <a:xfrm>
            <a:off x="502920" y="4434840"/>
            <a:ext cx="6675120" cy="594360"/>
          </a:xfrm>
          <a:prstGeom prst="roundRect">
            <a:avLst>
              <a:gd name="adj" fmla="val 12308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B7945FFB-29B8-64AD-7E2B-78101A259B5B}"/>
              </a:ext>
            </a:extLst>
          </p:cNvPr>
          <p:cNvSpPr txBox="1"/>
          <p:nvPr/>
        </p:nvSpPr>
        <p:spPr>
          <a:xfrm>
            <a:off x="685800" y="44348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shows: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accuracy and latency tradeoff the keynote raises for streaming Video-LLMs: more grounding takes more time.</a:t>
            </a:r>
            <a:endParaRPr lang="en-US" sz="12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E623F7AB-91F1-3CE4-B847-E711E57F2287}"/>
              </a:ext>
            </a:extLst>
          </p:cNvPr>
          <p:cNvSpPr txBox="1"/>
          <p:nvPr/>
        </p:nvSpPr>
        <p:spPr>
          <a:xfrm>
            <a:off x="502920" y="53035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4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RECAP:  5 FRAMES → ONE CONTACT SHEET → ACTIVATION GATE</a:t>
            </a:r>
            <a:endParaRPr lang="en-US" sz="1050" dirty="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F9BC65A8-CA95-DCE6-7247-8C5550EEB1A7}"/>
              </a:ext>
            </a:extLst>
          </p:cNvPr>
          <p:cNvSpPr/>
          <p:nvPr/>
        </p:nvSpPr>
        <p:spPr>
          <a:xfrm>
            <a:off x="502920" y="5596128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277BDE7-4352-918F-E29C-3501564B49A3}"/>
              </a:ext>
            </a:extLst>
          </p:cNvPr>
          <p:cNvSpPr txBox="1"/>
          <p:nvPr/>
        </p:nvSpPr>
        <p:spPr>
          <a:xfrm>
            <a:off x="502920" y="55961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87184727-E636-FCC3-2AEB-101D05958939}"/>
              </a:ext>
            </a:extLst>
          </p:cNvPr>
          <p:cNvSpPr/>
          <p:nvPr/>
        </p:nvSpPr>
        <p:spPr>
          <a:xfrm>
            <a:off x="1325880" y="5596128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7B4B318B-7C91-22C4-C121-5949BAAC468D}"/>
              </a:ext>
            </a:extLst>
          </p:cNvPr>
          <p:cNvSpPr txBox="1"/>
          <p:nvPr/>
        </p:nvSpPr>
        <p:spPr>
          <a:xfrm>
            <a:off x="1325880" y="55961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319D901D-4E10-36F2-4380-BCB26967AAEA}"/>
              </a:ext>
            </a:extLst>
          </p:cNvPr>
          <p:cNvSpPr/>
          <p:nvPr/>
        </p:nvSpPr>
        <p:spPr>
          <a:xfrm>
            <a:off x="2148840" y="5596128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BA610552-C397-F01B-FD98-DF7A6FDD7484}"/>
              </a:ext>
            </a:extLst>
          </p:cNvPr>
          <p:cNvSpPr txBox="1"/>
          <p:nvPr/>
        </p:nvSpPr>
        <p:spPr>
          <a:xfrm>
            <a:off x="2148840" y="55961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37DAE749-9286-E894-12B2-693D2663856E}"/>
              </a:ext>
            </a:extLst>
          </p:cNvPr>
          <p:cNvSpPr/>
          <p:nvPr/>
        </p:nvSpPr>
        <p:spPr>
          <a:xfrm>
            <a:off x="2971800" y="5596128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57B844F0-5EF2-1384-71F9-443EB50988D7}"/>
              </a:ext>
            </a:extLst>
          </p:cNvPr>
          <p:cNvSpPr txBox="1"/>
          <p:nvPr/>
        </p:nvSpPr>
        <p:spPr>
          <a:xfrm>
            <a:off x="2971800" y="55961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B8C931C0-3CBA-AED5-D87B-D1095EE6ABAF}"/>
              </a:ext>
            </a:extLst>
          </p:cNvPr>
          <p:cNvSpPr/>
          <p:nvPr/>
        </p:nvSpPr>
        <p:spPr>
          <a:xfrm>
            <a:off x="3794760" y="5596128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7F7F7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3AFCDB60-36EF-73E0-6AB1-4ADDB81BEBF3}"/>
              </a:ext>
            </a:extLst>
          </p:cNvPr>
          <p:cNvSpPr txBox="1"/>
          <p:nvPr/>
        </p:nvSpPr>
        <p:spPr>
          <a:xfrm>
            <a:off x="3794760" y="55961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5A3B9521-5EF1-1DA4-4059-EA19C6EA7D25}"/>
              </a:ext>
            </a:extLst>
          </p:cNvPr>
          <p:cNvSpPr txBox="1"/>
          <p:nvPr/>
        </p:nvSpPr>
        <p:spPr>
          <a:xfrm>
            <a:off x="4617720" y="559612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F5546C27-20D2-ADFA-9D3A-B7E32A3E4F4C}"/>
              </a:ext>
            </a:extLst>
          </p:cNvPr>
          <p:cNvSpPr/>
          <p:nvPr/>
        </p:nvSpPr>
        <p:spPr>
          <a:xfrm>
            <a:off x="5001768" y="5596128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3F538CA2-86A3-4F53-BEE9-A488256BB0AC}"/>
              </a:ext>
            </a:extLst>
          </p:cNvPr>
          <p:cNvSpPr txBox="1"/>
          <p:nvPr/>
        </p:nvSpPr>
        <p:spPr>
          <a:xfrm>
            <a:off x="5001768" y="55961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200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0BF36736-0479-647D-1BEF-A1DDC366B868}"/>
              </a:ext>
            </a:extLst>
          </p:cNvPr>
          <p:cNvSpPr/>
          <p:nvPr/>
        </p:nvSpPr>
        <p:spPr>
          <a:xfrm>
            <a:off x="7818120" y="1828800"/>
            <a:ext cx="3867912" cy="4270248"/>
          </a:xfrm>
          <a:prstGeom prst="roundRect">
            <a:avLst>
              <a:gd name="adj" fmla="val 2837"/>
            </a:avLst>
          </a:prstGeom>
          <a:solidFill>
            <a:srgbClr val="F96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1BAC0E59-F326-B064-064A-5F95DECA8296}"/>
              </a:ext>
            </a:extLst>
          </p:cNvPr>
          <p:cNvSpPr txBox="1"/>
          <p:nvPr/>
        </p:nvSpPr>
        <p:spPr>
          <a:xfrm>
            <a:off x="8092440" y="208483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200" dirty="0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04CA38A3-FBE3-AF8D-D137-CA8E4A15BD09}"/>
              </a:ext>
            </a:extLst>
          </p:cNvPr>
          <p:cNvSpPr txBox="1"/>
          <p:nvPr/>
        </p:nvSpPr>
        <p:spPr>
          <a:xfrm>
            <a:off x="8092440" y="2395728"/>
            <a:ext cx="3319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endParaRPr lang="en-US" sz="2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CAVEATS</a:t>
            </a:r>
            <a:endParaRPr lang="en-US" sz="2400" dirty="0"/>
          </a:p>
        </p:txBody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10E11339-8D6F-4871-BCC8-63BB4BD57EC4}"/>
              </a:ext>
            </a:extLst>
          </p:cNvPr>
          <p:cNvSpPr/>
          <p:nvPr/>
        </p:nvSpPr>
        <p:spPr>
          <a:xfrm>
            <a:off x="8092440" y="3456432"/>
            <a:ext cx="3319272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60BA80DE-1565-F86A-2E91-3F16EEEF0274}"/>
              </a:ext>
            </a:extLst>
          </p:cNvPr>
          <p:cNvSpPr txBox="1"/>
          <p:nvPr/>
        </p:nvSpPr>
        <p:spPr>
          <a:xfrm>
            <a:off x="8092440" y="3557583"/>
            <a:ext cx="3319272" cy="1545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Moondream ran fast but returned ungrounded noise, not text. Swapping to llava:7b fixed the format and grounded the reasoning, though it took 11x longer. This is an accuracy and latency tradeoff, not a dead end.</a:t>
            </a:r>
            <a:endParaRPr lang="en-US" sz="1400" dirty="0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762935AF-355A-7378-11EA-7671AB771BE1}"/>
              </a:ext>
            </a:extLst>
          </p:cNvPr>
          <p:cNvSpPr/>
          <p:nvPr/>
        </p:nvSpPr>
        <p:spPr>
          <a:xfrm>
            <a:off x="8092440" y="5184648"/>
            <a:ext cx="33192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FE848D90-E7A3-5B8F-9DA8-1EE887DDE1B5}"/>
              </a:ext>
            </a:extLst>
          </p:cNvPr>
          <p:cNvSpPr txBox="1"/>
          <p:nvPr/>
        </p:nvSpPr>
        <p:spPr>
          <a:xfrm>
            <a:off x="8275320" y="5184648"/>
            <a:ext cx="2953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C94E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test: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accuracy/latency sweet spot with a mid-size model, then validate on a live cooking clip.</a:t>
            </a:r>
            <a:endParaRPr lang="en-US" sz="1200" dirty="0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7A8D2DAA-19E0-E04D-A93B-0430BDDA5F55}"/>
              </a:ext>
            </a:extLst>
          </p:cNvPr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prototype test on the same 5 sample frames, using two on-device AI models</a:t>
            </a:r>
            <a:endParaRPr lang="en-US" sz="1050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D376D0C4-AD3F-49C2-2D16-A0C16A1B3AEB}"/>
              </a:ext>
            </a:extLst>
          </p:cNvPr>
          <p:cNvSpPr txBox="1"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7279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615</Words>
  <Application>Microsoft Macintosh PowerPoint</Application>
  <PresentationFormat>Widescreen</PresentationFormat>
  <Paragraphs>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Mirenge Innocent</dc:creator>
  <cp:lastModifiedBy>Mirenge Innocent</cp:lastModifiedBy>
  <cp:revision>6</cp:revision>
  <dcterms:created xsi:type="dcterms:W3CDTF">2026-10-01T21:06:19Z</dcterms:created>
  <dcterms:modified xsi:type="dcterms:W3CDTF">2026-10-01T21:34:15Z</dcterms:modified>
</cp:coreProperties>
</file>